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5CF5"/>
          </a:solidFill>
          <a:ln cap="flat" cmpd="sng" w="12700">
            <a:solidFill>
              <a:srgbClr val="7B5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7B5CF5">
              <a:alpha val="12156"/>
            </a:srgbClr>
          </a:solidFill>
          <a:ln cap="flat" cmpd="sng" w="12700">
            <a:solidFill>
              <a:srgbClr val="7B5CF5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22D3EE">
              <a:alpha val="7843"/>
            </a:srgbClr>
          </a:solidFill>
          <a:ln cap="flat" cmpd="sng" w="12700">
            <a:solidFill>
              <a:srgbClr val="22D3EE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94360" y="640080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7B5CF5">
              <a:alpha val="40000"/>
            </a:srgbClr>
          </a:solidFill>
          <a:ln cap="flat" cmpd="sng" w="952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94360" y="6217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딸깍톤 </a:t>
            </a:r>
            <a:r>
              <a:rPr b="1" i="0" lang="en-US" sz="9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강연</a:t>
            </a:r>
            <a:endParaRPr i="0" sz="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94360" y="1051560"/>
            <a:ext cx="68580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바이브 코딩</a:t>
            </a:r>
            <a:endParaRPr i="0" sz="6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하는 법</a:t>
            </a:r>
            <a:endParaRPr i="0" sz="6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94360" y="333756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Stitch Vibe Design  →  Claude Code  →  Vercel  →  라이브 URL</a:t>
            </a:r>
            <a:endParaRPr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94360" y="3931920"/>
            <a:ext cx="1280100" cy="292500"/>
          </a:xfrm>
          <a:prstGeom prst="roundRect">
            <a:avLst>
              <a:gd fmla="val 15625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운터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772400" y="47548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2026.03.25</a:t>
            </a:r>
            <a:endParaRPr i="0" sz="1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오늘의 목표</a:t>
            </a:r>
            <a:endParaRPr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94360" y="7772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직접 만들고, 배포까지</a:t>
            </a:r>
            <a:endParaRPr i="0" sz="3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94360" y="1828800"/>
            <a:ext cx="2560320" cy="2560320"/>
          </a:xfrm>
          <a:prstGeom prst="rect">
            <a:avLst/>
          </a:prstGeom>
          <a:solidFill>
            <a:srgbClr val="1E2240"/>
          </a:solidFill>
          <a:ln cap="flat" cmpd="sng" w="10150">
            <a:solidFill>
              <a:srgbClr val="7B5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94360" y="1828800"/>
            <a:ext cx="2560320" cy="54864"/>
          </a:xfrm>
          <a:prstGeom prst="rect">
            <a:avLst/>
          </a:prstGeom>
          <a:solidFill>
            <a:srgbClr val="7B5CF5"/>
          </a:solidFill>
          <a:ln cap="flat" cmpd="sng" w="12700">
            <a:solidFill>
              <a:srgbClr val="7B5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7B5CF5">
              <a:alpha val="80000"/>
            </a:srgbClr>
          </a:solidFill>
          <a:ln cap="flat" cmpd="sng" w="12700">
            <a:solidFill>
              <a:srgbClr val="7B5CF5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1031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2286000" y="20116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5CF5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7B5CF5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31520" y="2697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Stitch MCP</a:t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31520" y="31089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자연어 → UI 디자인</a:t>
            </a:r>
            <a:endParaRPr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자동 생성</a:t>
            </a:r>
            <a:endParaRPr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383280" y="1828800"/>
            <a:ext cx="2560320" cy="2560320"/>
          </a:xfrm>
          <a:prstGeom prst="rect">
            <a:avLst/>
          </a:prstGeom>
          <a:solidFill>
            <a:srgbClr val="1E2240"/>
          </a:solidFill>
          <a:ln cap="flat" cmpd="sng" w="101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383280" y="1828800"/>
            <a:ext cx="2560320" cy="54864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520440" y="2057400"/>
            <a:ext cx="502920" cy="502920"/>
          </a:xfrm>
          <a:prstGeom prst="ellipse">
            <a:avLst/>
          </a:prstGeom>
          <a:solidFill>
            <a:srgbClr val="22D3EE">
              <a:alpha val="80000"/>
            </a:srgbClr>
          </a:solidFill>
          <a:ln cap="flat" cmpd="sng" w="12700">
            <a:solidFill>
              <a:srgbClr val="22D3EE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0" y="21031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5074920" y="20116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22D3EE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520440" y="2697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Claude Code</a:t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520440" y="31089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디자인을 Next.js</a:t>
            </a:r>
            <a:endParaRPr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앱으로 변환</a:t>
            </a:r>
            <a:endParaRPr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172200" y="1828800"/>
            <a:ext cx="2560320" cy="2560320"/>
          </a:xfrm>
          <a:prstGeom prst="rect">
            <a:avLst/>
          </a:prstGeom>
          <a:solidFill>
            <a:srgbClr val="1E2240"/>
          </a:solidFill>
          <a:ln cap="flat" cmpd="sng" w="1015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172200" y="1828800"/>
            <a:ext cx="2560320" cy="54864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309360" y="2057400"/>
            <a:ext cx="502920" cy="502920"/>
          </a:xfrm>
          <a:prstGeom prst="ellipse">
            <a:avLst/>
          </a:prstGeom>
          <a:solidFill>
            <a:srgbClr val="FBBF24">
              <a:alpha val="80000"/>
            </a:srgbClr>
          </a:solidFill>
          <a:ln cap="flat" cmpd="sng" w="12700">
            <a:solidFill>
              <a:srgbClr val="FBBF2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5080" y="21031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7863840" y="20116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BBF24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309360" y="2697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Vercel 배포</a:t>
            </a:r>
            <a:endParaRPr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309360" y="31089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명령어 하나로</a:t>
            </a:r>
            <a:endParaRPr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라이브 URL 생성</a:t>
            </a:r>
            <a:endParaRPr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9436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코드를 직접 짜는 게 아니라 — 의도를 말하고, AI가 구현하고, 내가 확인하는 루프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B5CF5"/>
          </a:solidFill>
          <a:ln cap="flat" cmpd="sng" w="12700">
            <a:solidFill>
              <a:srgbClr val="7B5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바이브 코딩이란?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65760" y="822960"/>
            <a:ext cx="2651760" cy="3931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365760" y="822960"/>
            <a:ext cx="2651760" cy="73152"/>
          </a:xfrm>
          <a:prstGeom prst="rect">
            <a:avLst/>
          </a:prstGeom>
          <a:solidFill>
            <a:srgbClr val="7B5CF5"/>
          </a:solidFill>
          <a:ln cap="flat" cmpd="sng" w="12700">
            <a:solidFill>
              <a:srgbClr val="7B5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530352" y="96012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5CF5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7B5CF5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30352" y="17830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의도 먼저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30352" y="2331720"/>
            <a:ext cx="2331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기술 용어 없어도 됩니다.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"파란 버튼 만들어줘"가 시작입니다.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30352" y="3931920"/>
            <a:ext cx="36576" cy="685800"/>
          </a:xfrm>
          <a:prstGeom prst="rect">
            <a:avLst/>
          </a:prstGeom>
          <a:solidFill>
            <a:srgbClr val="7B5CF5"/>
          </a:solidFill>
          <a:ln cap="flat" cmpd="sng" w="12700">
            <a:solidFill>
              <a:srgbClr val="7B5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200400" y="822960"/>
            <a:ext cx="2651760" cy="3931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3200400" y="822960"/>
            <a:ext cx="265176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364992" y="96012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0891B2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364992" y="17830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작게 이터레이션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364992" y="2331720"/>
            <a:ext cx="2331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한 번에 완성하려 하지 마세요.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한 기능씩 확인하며 쌓으면 됩니다.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364992" y="3931920"/>
            <a:ext cx="36576" cy="6858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035040" y="822960"/>
            <a:ext cx="2651760" cy="3931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035040" y="822960"/>
            <a:ext cx="2651760" cy="73152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199632" y="96012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B45309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199632" y="17830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결과물 책임은 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199632" y="2331720"/>
            <a:ext cx="2331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AI가 짠 코드도 내 코드입니다.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실행해보고 이상하면 다시 시킵니다.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199632" y="3931920"/>
            <a:ext cx="36576" cy="6858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65760" y="4617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기존 개발과 다른 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926080" y="461772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타이핑 → 실행  →  대화 → 확인 루프로 전환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A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94360" y="274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오늘의 파이프라인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94360" y="685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디자인 → 코드 → 배포, 터미널 하나에서 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1645920"/>
            <a:ext cx="1463040" cy="2377440"/>
          </a:xfrm>
          <a:prstGeom prst="rect">
            <a:avLst/>
          </a:prstGeom>
          <a:solidFill>
            <a:srgbClr val="1E2240"/>
          </a:solidFill>
          <a:ln cap="flat" cmpd="sng" w="1015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57200" y="1645920"/>
            <a:ext cx="1463040" cy="54864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932688" y="1874520"/>
            <a:ext cx="502920" cy="502920"/>
          </a:xfrm>
          <a:prstGeom prst="ellipse">
            <a:avLst/>
          </a:prstGeom>
          <a:solidFill>
            <a:srgbClr val="818CF8">
              <a:alpha val="80000"/>
            </a:srgbClr>
          </a:solidFill>
          <a:ln cap="flat" cmpd="sng" w="12700">
            <a:solidFill>
              <a:srgbClr val="818CF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408" y="1920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502920" y="169164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48640" y="246888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Stitch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48640" y="30175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텍스트→UI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디자인 생성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8528" y="2606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2121408" y="1645920"/>
            <a:ext cx="1463040" cy="2377440"/>
          </a:xfrm>
          <a:prstGeom prst="rect">
            <a:avLst/>
          </a:prstGeom>
          <a:solidFill>
            <a:srgbClr val="1E2240"/>
          </a:solidFill>
          <a:ln cap="flat" cmpd="sng" w="101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2121408" y="1645920"/>
            <a:ext cx="1463040" cy="54864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2596896" y="1874520"/>
            <a:ext cx="502920" cy="502920"/>
          </a:xfrm>
          <a:prstGeom prst="ellipse">
            <a:avLst/>
          </a:prstGeom>
          <a:solidFill>
            <a:srgbClr val="22D3EE">
              <a:alpha val="80000"/>
            </a:srgbClr>
          </a:solidFill>
          <a:ln cap="flat" cmpd="sng" w="12700">
            <a:solidFill>
              <a:srgbClr val="22D3EE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42616" y="1920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6"/>
          <p:cNvSpPr/>
          <p:nvPr/>
        </p:nvSpPr>
        <p:spPr>
          <a:xfrm>
            <a:off x="2167128" y="169164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2212848" y="246888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stitch-mcp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2212848" y="30175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MCP 브릿지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디자인 전달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2736" y="2606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3785616" y="1645920"/>
            <a:ext cx="1463040" cy="2377440"/>
          </a:xfrm>
          <a:prstGeom prst="rect">
            <a:avLst/>
          </a:prstGeom>
          <a:solidFill>
            <a:srgbClr val="1E2240"/>
          </a:solidFill>
          <a:ln cap="flat" cmpd="sng" w="101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3785616" y="1645920"/>
            <a:ext cx="1463040" cy="54864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261104" y="1874520"/>
            <a:ext cx="502920" cy="502920"/>
          </a:xfrm>
          <a:prstGeom prst="ellipse">
            <a:avLst/>
          </a:prstGeom>
          <a:solidFill>
            <a:srgbClr val="A78BFA">
              <a:alpha val="80000"/>
            </a:srgbClr>
          </a:solidFill>
          <a:ln cap="flat" cmpd="sng" w="12700">
            <a:solidFill>
              <a:srgbClr val="A78BFA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6824" y="1920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3831336" y="169164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877056" y="246888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877056" y="30175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Next.js 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자동 변환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6944" y="2606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/>
          <p:nvPr/>
        </p:nvSpPr>
        <p:spPr>
          <a:xfrm>
            <a:off x="5449824" y="1645920"/>
            <a:ext cx="1463040" cy="2377440"/>
          </a:xfrm>
          <a:prstGeom prst="rect">
            <a:avLst/>
          </a:prstGeom>
          <a:solidFill>
            <a:srgbClr val="1E2240"/>
          </a:solidFill>
          <a:ln cap="flat" cmpd="sng" w="1015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5449824" y="1645920"/>
            <a:ext cx="1463040" cy="54864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5925312" y="1874520"/>
            <a:ext cx="502920" cy="502920"/>
          </a:xfrm>
          <a:prstGeom prst="ellipse">
            <a:avLst/>
          </a:prstGeom>
          <a:solidFill>
            <a:srgbClr val="FBBF24">
              <a:alpha val="80000"/>
            </a:srgbClr>
          </a:solidFill>
          <a:ln cap="flat" cmpd="sng" w="12700">
            <a:solidFill>
              <a:srgbClr val="FBBF2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71032" y="1920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5495544" y="169164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541264" y="246888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Vercel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541264" y="30175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vercel 한 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30초 배포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1152" y="2606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7114032" y="1645920"/>
            <a:ext cx="1463040" cy="2377440"/>
          </a:xfrm>
          <a:prstGeom prst="rect">
            <a:avLst/>
          </a:prstGeom>
          <a:solidFill>
            <a:srgbClr val="1E2240"/>
          </a:solidFill>
          <a:ln cap="flat" cmpd="sng" w="1015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7114032" y="1645920"/>
            <a:ext cx="1463040" cy="54864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7589520" y="1874520"/>
            <a:ext cx="502920" cy="502920"/>
          </a:xfrm>
          <a:prstGeom prst="ellipse">
            <a:avLst/>
          </a:prstGeom>
          <a:solidFill>
            <a:srgbClr val="34D399">
              <a:alpha val="80000"/>
            </a:srgbClr>
          </a:solidFill>
          <a:ln cap="flat" cmpd="sng" w="12700">
            <a:solidFill>
              <a:srgbClr val="34D39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35240" y="1920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/>
          <p:nvPr/>
        </p:nvSpPr>
        <p:spPr>
          <a:xfrm>
            <a:off x="7159752" y="169164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205472" y="246888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라이브 URL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205472" y="301752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전 세계에서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접근 가능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fmla="val 10909" name="adj"/>
            </a:avLst>
          </a:prstGeom>
          <a:solidFill>
            <a:srgbClr val="1E2240"/>
          </a:solidFill>
          <a:ln cap="flat" cmpd="sng" w="1015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94360" y="4343400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✓  claude mcp add stitch --transport http https://stitch.googleapis.com/mcp --header "X-Goog-Api-Key: YOUR-API-KEY" -s user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41728"/>
          </a:solidFill>
          <a:ln cap="flat" cmpd="sng" w="12700">
            <a:solidFill>
              <a:srgbClr val="1417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40분 타임테이블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65760" y="713232"/>
            <a:ext cx="1106424" cy="914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1508760" y="713232"/>
            <a:ext cx="1106424" cy="914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2651760" y="713232"/>
            <a:ext cx="2249424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937760" y="713232"/>
            <a:ext cx="2249424" cy="9144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7223760" y="713232"/>
            <a:ext cx="1106424" cy="9144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8366760" y="713232"/>
            <a:ext cx="1106424" cy="9144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365760" y="1005840"/>
            <a:ext cx="640080" cy="457200"/>
          </a:xfrm>
          <a:prstGeom prst="rect">
            <a:avLst/>
          </a:prstGeom>
          <a:solidFill>
            <a:srgbClr val="7C3AED">
              <a:alpha val="14901"/>
            </a:srgbClr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365760" y="10058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0:00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115568" y="1124712"/>
            <a:ext cx="201168" cy="20116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197864" y="1325880"/>
            <a:ext cx="36576" cy="62179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463040" y="101498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오프닝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463040" y="1271016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오늘 뭘 만드나요?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858000" y="1051560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7C3AED">
              <a:alpha val="25098"/>
            </a:srgbClr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858000" y="105156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5분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65760" y="1664208"/>
            <a:ext cx="640080" cy="457200"/>
          </a:xfrm>
          <a:prstGeom prst="rect">
            <a:avLst/>
          </a:prstGeom>
          <a:solidFill>
            <a:srgbClr val="0891B2">
              <a:alpha val="14901"/>
            </a:srgbClr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365760" y="1664208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0:05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115568" y="1783080"/>
            <a:ext cx="201168" cy="201168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1197864" y="1984248"/>
            <a:ext cx="36576" cy="62179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463040" y="16733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개념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463040" y="1929384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바이브 코딩 3원칙 + 파이프라인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858000" y="1709928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0891B2">
              <a:alpha val="25098"/>
            </a:srgbClr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6858000" y="170992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5분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65760" y="2322576"/>
            <a:ext cx="640080" cy="457200"/>
          </a:xfrm>
          <a:prstGeom prst="rect">
            <a:avLst/>
          </a:prstGeom>
          <a:solidFill>
            <a:srgbClr val="D97706">
              <a:alpha val="14901"/>
            </a:srgbClr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365760" y="2322576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0:10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115568" y="2441448"/>
            <a:ext cx="201168" cy="201168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1197864" y="2642616"/>
            <a:ext cx="36576" cy="62179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1463040" y="23317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시연 1 — Stitch MCP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463040" y="258775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디자인 가져오기 + Next.js 변환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858000" y="2368296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D97706">
              <a:alpha val="25098"/>
            </a:srgbClr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6858000" y="2368296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10분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65760" y="2980944"/>
            <a:ext cx="640080" cy="457200"/>
          </a:xfrm>
          <a:prstGeom prst="rect">
            <a:avLst/>
          </a:prstGeom>
          <a:solidFill>
            <a:srgbClr val="DC2626">
              <a:alpha val="14901"/>
            </a:srgbClr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365760" y="2980944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0:20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115568" y="3099816"/>
            <a:ext cx="201168" cy="201168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1197864" y="3300984"/>
            <a:ext cx="36576" cy="62179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1463040" y="299008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시연 2 — Vercel 배포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463040" y="32461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vercel 한 줄 → 라이브 URL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858000" y="3026664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DC2626">
              <a:alpha val="25098"/>
            </a:srgbClr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6858000" y="3026664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10분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65760" y="3639312"/>
            <a:ext cx="640080" cy="457200"/>
          </a:xfrm>
          <a:prstGeom prst="rect">
            <a:avLst/>
          </a:prstGeom>
          <a:solidFill>
            <a:srgbClr val="059669">
              <a:alpha val="14901"/>
            </a:srgbClr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365760" y="3639312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0:30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1115568" y="3758184"/>
            <a:ext cx="201168" cy="20116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1197864" y="3959352"/>
            <a:ext cx="36576" cy="62179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1463040" y="364845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스택 레벨별 진입로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463040" y="390448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비개발자 ~ 개발자 모두 포함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858000" y="3685032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059669">
              <a:alpha val="25098"/>
            </a:srgbClr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858000" y="368503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5분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65760" y="4297680"/>
            <a:ext cx="640080" cy="457200"/>
          </a:xfrm>
          <a:prstGeom prst="rect">
            <a:avLst/>
          </a:prstGeom>
          <a:solidFill>
            <a:srgbClr val="6D28D9">
              <a:alpha val="14901"/>
            </a:srgbClr>
          </a:solidFill>
          <a:ln cap="flat" cmpd="sng" w="9525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365760" y="429768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0:35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115568" y="4416552"/>
            <a:ext cx="201168" cy="201168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1463040" y="430682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Q&amp;A + 마무리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463040" y="4562856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QR코드 리소스 공유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858000" y="4343400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6D28D9">
              <a:alpha val="25098"/>
            </a:srgbClr>
          </a:solidFill>
          <a:ln cap="flat" cmpd="sng" w="9525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858000" y="434340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5분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5CF5"/>
          </a:solidFill>
          <a:ln cap="flat" cmpd="sng" w="12700">
            <a:solidFill>
              <a:srgbClr val="7B5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594360" y="256032"/>
            <a:ext cx="1280160" cy="274320"/>
          </a:xfrm>
          <a:prstGeom prst="rect">
            <a:avLst/>
          </a:prstGeom>
          <a:solidFill>
            <a:srgbClr val="7B5CF5">
              <a:alpha val="30196"/>
            </a:srgbClr>
          </a:solidFill>
          <a:ln cap="flat" cmpd="sng" w="952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594360" y="2560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DEMO 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94360" y="62179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Stitch MCP — 디자인 가져오기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94360" y="1463040"/>
            <a:ext cx="329184" cy="329184"/>
          </a:xfrm>
          <a:prstGeom prst="ellipse">
            <a:avLst/>
          </a:prstGeom>
          <a:solidFill>
            <a:srgbClr val="A78BFA">
              <a:alpha val="25098"/>
            </a:srgbClr>
          </a:solidFill>
          <a:ln cap="flat" cmpd="sng" w="101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594360" y="146304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1051560" y="147218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Stitch에서 Vibe Design으로 UI 생성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94360" y="2304288"/>
            <a:ext cx="329184" cy="329184"/>
          </a:xfrm>
          <a:prstGeom prst="ellipse">
            <a:avLst/>
          </a:prstGeom>
          <a:solidFill>
            <a:srgbClr val="22D3EE">
              <a:alpha val="25098"/>
            </a:srgbClr>
          </a:solidFill>
          <a:ln cap="flat" cmpd="sng" w="101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594360" y="23042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051560" y="231343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Code에 MCP 한 줄 등록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051560" y="2624328"/>
            <a:ext cx="4206240" cy="310896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1143000" y="2624328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claude mcp add stitch --transport http https://stitch.googleapis.com/mcp \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94360" y="3145536"/>
            <a:ext cx="329184" cy="329184"/>
          </a:xfrm>
          <a:prstGeom prst="ellipse">
            <a:avLst/>
          </a:prstGeom>
          <a:solidFill>
            <a:srgbClr val="FBBF24">
              <a:alpha val="25098"/>
            </a:srgbClr>
          </a:solidFill>
          <a:ln cap="flat" cmpd="sng" w="1015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594360" y="314553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051560" y="31546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디자인 가져오기 요청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1051560" y="3465576"/>
            <a:ext cx="4206240" cy="310896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1143000" y="3465576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"stitch에서 홈 화면 코드 가져와줘"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94360" y="3986784"/>
            <a:ext cx="329184" cy="329184"/>
          </a:xfrm>
          <a:prstGeom prst="ellipse">
            <a:avLst/>
          </a:prstGeom>
          <a:solidFill>
            <a:srgbClr val="34D399">
              <a:alpha val="25098"/>
            </a:srgbClr>
          </a:solidFill>
          <a:ln cap="flat" cmpd="sng" w="1015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94360" y="398678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051560" y="399592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Next.js 컴포넌트로 변환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051560" y="4306824"/>
            <a:ext cx="4206240" cy="310896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1143000" y="4306824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"TypeScript + Tailwind 컴포넌트로 바꿔줘"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486400" y="1371600"/>
            <a:ext cx="3383280" cy="3291840"/>
          </a:xfrm>
          <a:prstGeom prst="rect">
            <a:avLst/>
          </a:prstGeom>
          <a:solidFill>
            <a:srgbClr val="1E2240"/>
          </a:solidFill>
          <a:ln cap="flat" cmpd="sng" w="10150">
            <a:solidFill>
              <a:srgbClr val="7B5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5486400" y="1371600"/>
            <a:ext cx="3383280" cy="54864"/>
          </a:xfrm>
          <a:prstGeom prst="rect">
            <a:avLst/>
          </a:prstGeom>
          <a:solidFill>
            <a:srgbClr val="7B5CF5"/>
          </a:solidFill>
          <a:ln cap="flat" cmpd="sng" w="12700">
            <a:solidFill>
              <a:srgbClr val="7B5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623560" y="14630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이 시점의 멘트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623560" y="187452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"지금 제가 코드를 복붙한 게 아니라 AI가 API로 직접 가져왔습니다.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이게 MCP입니다."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623560" y="3337560"/>
            <a:ext cx="36576" cy="1097280"/>
          </a:xfrm>
          <a:prstGeom prst="rect">
            <a:avLst/>
          </a:prstGeom>
          <a:solidFill>
            <a:srgbClr val="7B5CF5"/>
          </a:solidFill>
          <a:ln cap="flat" cmpd="sng" w="12700">
            <a:solidFill>
              <a:srgbClr val="7B5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5760720" y="333756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API 키 한 줄 등록으로 끝.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DESIGN.md로 디자인 시스템도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자동으로 함께 가져와.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94360" y="4754880"/>
            <a:ext cx="8229600" cy="22860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85800" y="475488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  --header "X-Goog-Api-Key: YOUR-API-KEY" -s user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1409517" y="1458974"/>
            <a:ext cx="63306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/>
              <a:t>Google Slides에서 글꼴을 변경하는 방법은 다음과 같습니다. 글꼴 변경 기능은 현재 제가 직접 실행해 드릴 수는 없지만, Google 고객센터의 안내를 참고하여 변경 방법을 알려 드릴 수 있습니다.</a:t>
            </a:r>
            <a:endParaRPr sz="1100"/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/>
              <a:t>1. 프레젠테이션 전체의 글꼴 변경 (테마 변경)</a:t>
            </a:r>
            <a:endParaRPr b="1" sz="1100"/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/>
              <a:t>테마는 색상, 배경, 레이아웃뿐만 아니라 미리 설정된 </a:t>
            </a:r>
            <a:r>
              <a:rPr b="1" lang="en-US" sz="1100"/>
              <a:t>글꼴</a:t>
            </a:r>
            <a:r>
              <a:rPr lang="en-US" sz="1100"/>
              <a:t> 그룹을 포함하고 있습니다. 테마를 변경하면 전체 프레젠테이션의 글꼴 스타일이 일괄적으로 바뀝니다.</a:t>
            </a:r>
            <a:endParaRPr sz="1100"/>
          </a:p>
          <a:p>
            <a:pPr indent="-251301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1100"/>
              <a:t>Google Slides에서 프레젠테이션을 엽니다.</a:t>
            </a:r>
            <a:endParaRPr sz="1100"/>
          </a:p>
          <a:p>
            <a:pPr indent="-2513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100"/>
              <a:t>상단 메뉴에서 </a:t>
            </a:r>
            <a:r>
              <a:rPr b="1" lang="en-US" sz="1100"/>
              <a:t>슬라이드</a:t>
            </a:r>
            <a:r>
              <a:rPr lang="en-US" sz="1100"/>
              <a:t> &gt; </a:t>
            </a:r>
            <a:r>
              <a:rPr b="1" lang="en-US" sz="1100"/>
              <a:t>테마 변경</a:t>
            </a:r>
            <a:r>
              <a:rPr lang="en-US" sz="1100"/>
              <a:t>을 클릭합니다.</a:t>
            </a:r>
            <a:endParaRPr sz="1100"/>
          </a:p>
          <a:p>
            <a:pPr indent="-2513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100"/>
              <a:t>오른쪽에 나타나는 패널에서 원하는 테마를 클릭하여 적용합니다.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/>
              <a:t>2. 특정 텍스트의 글꼴 변경</a:t>
            </a:r>
            <a:endParaRPr b="1" sz="1100"/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/>
              <a:t>특정 텍스트 상자나 단락의 글꼴만 변경하려면 다음 단계를 따릅니다.</a:t>
            </a:r>
            <a:endParaRPr sz="1100"/>
          </a:p>
          <a:p>
            <a:pPr indent="-251301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1100"/>
              <a:t>글꼴을 변경하고 싶은 텍스트를 선택합니다.</a:t>
            </a:r>
            <a:endParaRPr sz="1100"/>
          </a:p>
          <a:p>
            <a:pPr indent="-2513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100"/>
              <a:t>상단 툴바에서 현재 글꼴 이름이 표시된 드롭다운 메뉴를 클릭합니다.</a:t>
            </a:r>
            <a:endParaRPr sz="1100"/>
          </a:p>
          <a:p>
            <a:pPr indent="-2513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100"/>
              <a:t>드롭다운 목록에서 한글 가독성이 좋은 글꼴(예: 나눔고딕, 본고딕(Noto Sans KR) 등)을 선택하여 적용합니다.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594360" y="256032"/>
            <a:ext cx="1280160" cy="274320"/>
          </a:xfrm>
          <a:prstGeom prst="rect">
            <a:avLst/>
          </a:prstGeom>
          <a:solidFill>
            <a:srgbClr val="FBBF24">
              <a:alpha val="25098"/>
            </a:srgbClr>
          </a:solidFill>
          <a:ln cap="flat" cmpd="sng" w="9525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594360" y="2560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DEMO 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94360" y="62179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Claude Code → Vercel 배포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94360" y="1463040"/>
            <a:ext cx="54864" cy="502920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777240" y="14813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로컬 확인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777240" y="1783080"/>
            <a:ext cx="4572000" cy="27432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868680" y="178308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npm run dev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532120" y="17830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브라우저에서 결과 미리보기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594360" y="2249424"/>
            <a:ext cx="54864" cy="50292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777240" y="22677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Vercel 배포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777240" y="2569464"/>
            <a:ext cx="4572000" cy="27432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868680" y="2569464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vercel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532120" y="256946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프로젝트명 엔터 → 빌드 시작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94360" y="3035808"/>
            <a:ext cx="54864" cy="50292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777240" y="305409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URL 획득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777240" y="3355848"/>
            <a:ext cx="4572000" cy="27432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868680" y="335584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✓  https://xxx.vercel.app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532120" y="335584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30초 안에 라이브 URL 등장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94360" y="3822192"/>
            <a:ext cx="54864" cy="50292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777240" y="3840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청중 공유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777240" y="4142232"/>
            <a:ext cx="4572000" cy="274320"/>
          </a:xfrm>
          <a:prstGeom prst="rect">
            <a:avLst/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868680" y="414223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채팅창에 URL 붙여넣기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5532120" y="414223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방금 만든 게 지금 인터넷에 올라가 있어요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94360" y="4617720"/>
            <a:ext cx="8229600" cy="365760"/>
          </a:xfrm>
          <a:prstGeom prst="rect">
            <a:avLst/>
          </a:prstGeom>
          <a:solidFill>
            <a:srgbClr val="FBBF24">
              <a:alpha val="18039"/>
            </a:srgbClr>
          </a:solidFill>
          <a:ln cap="flat" cmpd="sng" w="1015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777240" y="461772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핵심 멘트:  "서버 설정 없었고, 배포 버튼 없었고, 명령어 하나였습니다."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41728"/>
          </a:solidFill>
          <a:ln cap="flat" cmpd="sng" w="12700">
            <a:solidFill>
              <a:srgbClr val="1417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프롬프트 잘 쓰는 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DE9FE"/>
          </a:solidFill>
          <a:ln cap="flat" cmpd="sng" w="10150">
            <a:solidFill>
              <a:srgbClr val="7B5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공식:  맥락  +  원하는 동작  +  결과 형태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365760" y="1508760"/>
            <a:ext cx="3931920" cy="32004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365760" y="15087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❌  나쁜 프롬프트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4754880" y="1508760"/>
            <a:ext cx="4023360" cy="320040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4754880" y="15087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좋은 프롬프트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365760" y="1920240"/>
            <a:ext cx="3931920" cy="685800"/>
          </a:xfrm>
          <a:prstGeom prst="rect">
            <a:avLst/>
          </a:prstGeom>
          <a:solidFill>
            <a:srgbClr val="FFF5F5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502920" y="1993392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버튼 만들어줘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4754880" y="1920240"/>
            <a:ext cx="4023360" cy="685800"/>
          </a:xfrm>
          <a:prstGeom prst="rect">
            <a:avLst/>
          </a:prstGeom>
          <a:solidFill>
            <a:srgbClr val="F0FFF4"/>
          </a:solidFill>
          <a:ln cap="flat" cmpd="sng" w="9525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4892040" y="1975104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오른쪽 하단에 파란 CTA 버튼, 클릭 시 팀 매칭 시작되게 해줘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365760" y="2834640"/>
            <a:ext cx="3931920" cy="685800"/>
          </a:xfrm>
          <a:prstGeom prst="rect">
            <a:avLst/>
          </a:prstGeom>
          <a:solidFill>
            <a:srgbClr val="FFF5F5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502920" y="2907792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예쁘게 만들어줘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4754880" y="2834640"/>
            <a:ext cx="4023360" cy="685800"/>
          </a:xfrm>
          <a:prstGeom prst="rect">
            <a:avLst/>
          </a:prstGeom>
          <a:solidFill>
            <a:srgbClr val="F0FFF4"/>
          </a:solidFill>
          <a:ln cap="flat" cmpd="sng" w="9525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4892040" y="2889504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카드 컴포넌트에 hover 시 그림자 효과와 scale(1.02) 트랜지션 추가해줘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365760" y="3749040"/>
            <a:ext cx="3931920" cy="685800"/>
          </a:xfrm>
          <a:prstGeom prst="rect">
            <a:avLst/>
          </a:prstGeom>
          <a:solidFill>
            <a:srgbClr val="FFF5F5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502920" y="3822192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배포해줘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754880" y="3749040"/>
            <a:ext cx="4023360" cy="685800"/>
          </a:xfrm>
          <a:prstGeom prst="rect">
            <a:avLst/>
          </a:prstGeom>
          <a:solidFill>
            <a:srgbClr val="F0FFF4"/>
          </a:solidFill>
          <a:ln cap="flat" cmpd="sng" w="9525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4892040" y="3803904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vercel로 프로덕션 배포하고 나온 URL 알려줘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에러가 났을 때도 당황 금지 — 에러 메시지를 그대로 Claude에게 붙여넣으면 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594360" y="274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기술 스택 — 레벨별 진입로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594360" y="685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개발자가 아니어도 괜찮습니다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457200" y="1508760"/>
            <a:ext cx="2651760" cy="3291840"/>
          </a:xfrm>
          <a:prstGeom prst="rect">
            <a:avLst/>
          </a:prstGeom>
          <a:solidFill>
            <a:srgbClr val="064E3B">
              <a:alpha val="80000"/>
            </a:srgbClr>
          </a:solidFill>
          <a:ln cap="flat" cmpd="sng" w="1015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457200" y="1508760"/>
            <a:ext cx="2651760" cy="54864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594360" y="162763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비개발자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94360" y="19385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브라우저만 있으면 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23317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1"/>
          <p:cNvSpPr/>
          <p:nvPr/>
        </p:nvSpPr>
        <p:spPr>
          <a:xfrm>
            <a:off x="868680" y="231343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Claude.ai 채팅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28986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1"/>
          <p:cNvSpPr/>
          <p:nvPr/>
        </p:nvSpPr>
        <p:spPr>
          <a:xfrm>
            <a:off x="868680" y="288036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Lovable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34655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1"/>
          <p:cNvSpPr/>
          <p:nvPr/>
        </p:nvSpPr>
        <p:spPr>
          <a:xfrm>
            <a:off x="868680" y="344728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v0 by Vercel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2" name="Google Shape;3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403250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1"/>
          <p:cNvSpPr/>
          <p:nvPr/>
        </p:nvSpPr>
        <p:spPr>
          <a:xfrm>
            <a:off x="868680" y="4014216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Bolt.new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3310128" y="1508760"/>
            <a:ext cx="2651760" cy="3291840"/>
          </a:xfrm>
          <a:prstGeom prst="rect">
            <a:avLst/>
          </a:prstGeom>
          <a:solidFill>
            <a:srgbClr val="0C4A6E">
              <a:alpha val="80000"/>
            </a:srgbClr>
          </a:solidFill>
          <a:ln cap="flat" cmpd="sng" w="101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3310128" y="1508760"/>
            <a:ext cx="2651760" cy="54864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3447288" y="162763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입문 개발자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3447288" y="19385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터미널 조금 써도 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8" name="Google Shape;3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7288" y="23317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1"/>
          <p:cNvSpPr/>
          <p:nvPr/>
        </p:nvSpPr>
        <p:spPr>
          <a:xfrm>
            <a:off x="3721608" y="231343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Code CLI  ←  오늘 시연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0" name="Google Shape;3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7288" y="28986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1"/>
          <p:cNvSpPr/>
          <p:nvPr/>
        </p:nvSpPr>
        <p:spPr>
          <a:xfrm>
            <a:off x="3721608" y="288036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Vercel CLI 배포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163056" y="1508760"/>
            <a:ext cx="2651760" cy="3291840"/>
          </a:xfrm>
          <a:prstGeom prst="rect">
            <a:avLst/>
          </a:prstGeom>
          <a:solidFill>
            <a:srgbClr val="2E1065">
              <a:alpha val="80000"/>
            </a:srgbClr>
          </a:solidFill>
          <a:ln cap="flat" cmpd="sng" w="101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6163056" y="1508760"/>
            <a:ext cx="2651760" cy="54864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6300216" y="162763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개발자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6300216" y="19385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더 깊이 쓰고 싶다면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6" name="Google Shape;3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0216" y="23317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1"/>
          <p:cNvSpPr/>
          <p:nvPr/>
        </p:nvSpPr>
        <p:spPr>
          <a:xfrm>
            <a:off x="6574536" y="231343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Code + MCP 확장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8" name="Google Shape;3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0216" y="28986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1"/>
          <p:cNvSpPr/>
          <p:nvPr/>
        </p:nvSpPr>
        <p:spPr>
          <a:xfrm>
            <a:off x="6574536" y="288036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Supabase (DB·Auth)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0" name="Google Shape;3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0216" y="34655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/>
          <p:nvPr/>
        </p:nvSpPr>
        <p:spPr>
          <a:xfrm>
            <a:off x="6574536" y="344728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오늘 시연한 Claude Code는 중간 단계 — 비개발자분들은 Lovable로도 동일한 결과가 납니다.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A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"/>
          <p:cNvSpPr/>
          <p:nvPr/>
        </p:nvSpPr>
        <p:spPr>
          <a:xfrm>
            <a:off x="-914400" y="-1371600"/>
            <a:ext cx="6400800" cy="6400800"/>
          </a:xfrm>
          <a:prstGeom prst="ellipse">
            <a:avLst/>
          </a:prstGeom>
          <a:solidFill>
            <a:srgbClr val="7B5CF5">
              <a:alpha val="10196"/>
            </a:srgbClr>
          </a:solidFill>
          <a:ln cap="flat" cmpd="sng" w="12700">
            <a:solidFill>
              <a:srgbClr val="7B5CF5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22D3EE">
              <a:alpha val="7843"/>
            </a:srgbClr>
          </a:solidFill>
          <a:ln cap="flat" cmpd="sng" w="12700">
            <a:solidFill>
              <a:srgbClr val="22D3EE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731520" y="4572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오늘부터 시작하는 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731520" y="9144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 Black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코드는 몰라도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 Black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됩니다.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731520" y="2834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오늘 집에 가서 한 가지만 해보세요.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731520" y="3337560"/>
            <a:ext cx="2468880" cy="1325880"/>
          </a:xfrm>
          <a:prstGeom prst="rect">
            <a:avLst/>
          </a:prstGeom>
          <a:solidFill>
            <a:srgbClr val="1E2240"/>
          </a:solidFill>
          <a:ln cap="flat" cmpd="sng" w="1015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868680" y="3429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34D399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868680" y="3931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Claude.ai 접속 or Lovable 가입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3429000" y="3337560"/>
            <a:ext cx="2468880" cy="1325880"/>
          </a:xfrm>
          <a:prstGeom prst="rect">
            <a:avLst/>
          </a:prstGeom>
          <a:solidFill>
            <a:srgbClr val="1E2240"/>
          </a:solidFill>
          <a:ln cap="flat" cmpd="sng" w="101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3566160" y="3429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3566160" y="3931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만들고 싶었던 것, 말로 설명해보기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6126480" y="3337560"/>
            <a:ext cx="2468880" cy="1325880"/>
          </a:xfrm>
          <a:prstGeom prst="rect">
            <a:avLst/>
          </a:prstGeom>
          <a:solidFill>
            <a:srgbClr val="1E2240"/>
          </a:solidFill>
          <a:ln cap="flat" cmpd="sng" w="101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6263640" y="3429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A78BFA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6263640" y="3931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결과 보고, 고쳐달라고 다시 요청하기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728"/>
          </a:solidFill>
          <a:ln cap="flat" cmpd="sng" w="12700">
            <a:solidFill>
              <a:srgbClr val="1417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Claude.ai  |  Lovable.dev  |  v0.dev  |  stitch.withgoogle.com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