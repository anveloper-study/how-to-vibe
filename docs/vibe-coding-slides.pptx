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750" y="285750"/>
            <a:ext cx="8572500" cy="4572000"/>
          </a:xfrm>
          <a:prstGeom prst="roundRect">
            <a:avLst/>
          </a:prstGeom>
          <a:noFill/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57150" cy="57150"/>
          </a:xfrm>
          <a:prstGeom prst="rect">
            <a:avLst/>
          </a:prstGeom>
          <a:solidFill>
            <a:srgbClr val="FE2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15350" y="4514850"/>
            <a:ext cx="57150" cy="5715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8875" y="1357312"/>
            <a:ext cx="4286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E2A80"/>
                </a:solidFill>
                <a:latin typeface="Noto Sans KR"/>
              </a:rPr>
              <a:t>딸깍톤 (AI 해커톤) | 2026.03.28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1928812"/>
            <a:ext cx="71437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0" b="1">
                <a:solidFill>
                  <a:srgbClr val="FFFFFF"/>
                </a:solidFill>
                <a:latin typeface="Noto Sans KR"/>
              </a:rPr>
              <a:t>바이브 코딩</a:t>
            </a:r>
            <a:r>
              <a:rPr sz="6300" b="1">
                <a:solidFill>
                  <a:srgbClr val="FFFFFF"/>
                </a:solidFill>
                <a:latin typeface="Noto Sans KR"/>
              </a:rPr>
              <a:t>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2928937"/>
            <a:ext cx="571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>
                <a:solidFill>
                  <a:srgbClr val="A1A1AA"/>
                </a:solidFill>
                <a:latin typeface="Noto Sans KR"/>
              </a:rPr>
              <a:t>참여자1 이었던 내가 해커톤 강단에서 강연을 하다니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437" y="3857625"/>
            <a:ext cx="2143125" cy="35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Noto Sans KR"/>
              </a:rPr>
              <a:t>발표자:</a:t>
            </a:r>
            <a:r>
              <a:rPr sz="1650" b="1">
                <a:solidFill>
                  <a:srgbClr val="FFFFFF"/>
                </a:solidFill>
                <a:latin typeface="Noto Sans KR"/>
              </a:rPr>
              <a:t>운터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71625" y="3929062"/>
            <a:ext cx="2571750" cy="714375"/>
          </a:xfrm>
          <a:prstGeom prst="round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0625" y="3929062"/>
            <a:ext cx="2571750" cy="714375"/>
          </a:xfrm>
          <a:prstGeom prst="roundRect">
            <a:avLst/>
          </a:prstGeom>
          <a:solidFill>
            <a:srgbClr val="FE2A80">
              <a:alpha val="8000"/>
            </a:srgbClr>
          </a:solidFill>
          <a:ln w="12700">
            <a:solidFill>
              <a:srgbClr val="FE2A80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4375" y="642937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KR"/>
              </a:rPr>
              <a:t>오늘의 목표</a:t>
            </a:r>
            <a:r>
              <a:rPr sz="3000" b="1">
                <a:solidFill>
                  <a:srgbClr val="FFFFFF"/>
                </a:solidFill>
                <a:latin typeface="Noto Sans KR"/>
              </a:rPr>
              <a:t>— 직접 만들고, 배포까지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1714500"/>
            <a:ext cx="7143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A1A1AA"/>
                </a:solidFill>
                <a:latin typeface="Noto Sans KR"/>
              </a:rPr>
              <a:t>코드를 직접 짜는 게 아니라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71687"/>
            <a:ext cx="685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KR"/>
              </a:rPr>
              <a:t>의도를</a:t>
            </a:r>
            <a:r>
              <a:rPr sz="4200" b="1">
                <a:solidFill>
                  <a:srgbClr val="FFFFFF"/>
                </a:solidFill>
                <a:latin typeface="Noto Sans KR"/>
              </a:rPr>
              <a:t>말하고</a:t>
            </a:r>
            <a:r>
              <a:rPr sz="4200" b="1">
                <a:solidFill>
                  <a:srgbClr val="FFFFFF"/>
                </a:solidFill>
                <a:latin typeface="Noto Sans KR"/>
              </a:rPr>
              <a:t>, AI가</a:t>
            </a:r>
            <a:r>
              <a:rPr sz="4200" b="1">
                <a:solidFill>
                  <a:srgbClr val="FFFFFF"/>
                </a:solidFill>
                <a:latin typeface="Noto Sans KR"/>
              </a:rPr>
              <a:t>구현하고</a:t>
            </a:r>
            <a:r>
              <a:rPr sz="4200" b="1">
                <a:solidFill>
                  <a:srgbClr val="FFFFFF"/>
                </a:solidFill>
                <a:latin typeface="Noto Sans KR"/>
              </a:rPr>
              <a:t>, 내가</a:t>
            </a:r>
            <a:r>
              <a:rPr sz="4200" b="1">
                <a:solidFill>
                  <a:srgbClr val="FFFFFF"/>
                </a:solidFill>
                <a:latin typeface="Noto Sans KR"/>
              </a:rPr>
              <a:t>확인하는 루프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71875"/>
            <a:ext cx="714375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6666"/>
                </a:solidFill>
                <a:latin typeface="Noto Sans KR"/>
              </a:rPr>
              <a:t>TODAY'S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929062"/>
            <a:ext cx="2571750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Noto Sans KR"/>
              </a:rPr>
              <a:t>누구나 할 수 있는 방법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(비개발자)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625" y="3929062"/>
            <a:ext cx="2571750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Noto Sans KR"/>
              </a:rPr>
              <a:t>개발자가 더 깊이</a:t>
            </a:r>
            <a:r>
              <a:rPr sz="1650" b="1">
                <a:solidFill>
                  <a:srgbClr val="FFFFFF"/>
                </a:solidFill>
                <a:latin typeface="Noto Sans KR"/>
              </a:rPr>
              <a:t>가는 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375" y="1571625"/>
            <a:ext cx="2428875" cy="2143125"/>
          </a:xfrm>
          <a:prstGeom prst="round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57562" y="1571625"/>
            <a:ext cx="2428875" cy="2143125"/>
          </a:xfrm>
          <a:prstGeom prst="round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00750" y="1571625"/>
            <a:ext cx="2428875" cy="2143125"/>
          </a:xfrm>
          <a:prstGeom prst="round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14500" y="4143375"/>
            <a:ext cx="5715000" cy="428625"/>
          </a:xfrm>
          <a:prstGeom prst="round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375" y="642937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KR"/>
              </a:rPr>
              <a:t>바이브 코딩이란?</a:t>
            </a:r>
            <a:r>
              <a:rPr sz="3000" b="1">
                <a:solidFill>
                  <a:srgbClr val="FFFFFF"/>
                </a:solidFill>
                <a:latin typeface="Noto Sans KR"/>
              </a:rPr>
              <a:t>— 3원칙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687" y="1785937"/>
            <a:ext cx="200025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E2A80"/>
                </a:solidFill>
                <a:latin typeface="Noto Sans KR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의도 먼저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기술 용어 없어도 됩니다.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"파란 버튼 만들어줘"</a:t>
            </a:r>
            <a:r>
              <a:rPr sz="1200">
                <a:solidFill>
                  <a:srgbClr val="A1A1AA"/>
                </a:solidFill>
                <a:latin typeface="Noto Sans KR"/>
              </a:rPr>
              <a:t>가 시작입니다.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5" y="1785937"/>
            <a:ext cx="200025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E2A80"/>
                </a:solidFill>
                <a:latin typeface="Noto Sans KR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작게 이터레이션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한 번에 완성하려 하지 마세요.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한 기능씩 확인하며 쌓으면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5062" y="1785937"/>
            <a:ext cx="200025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E2A80"/>
                </a:solidFill>
                <a:latin typeface="Noto Sans KR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결과물 책임은 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AI가 짠 코드도 내 코드입니다.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실행해보고 이상하면 다시 시킵니다.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7375" y="4257675"/>
            <a:ext cx="5429250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FFFFFF"/>
                </a:solidFill>
                <a:latin typeface="Noto Sans KR"/>
              </a:rPr>
              <a:t>기존 개발과 다른 점 :</a:t>
            </a:r>
            <a:r>
              <a:rPr sz="1350">
                <a:solidFill>
                  <a:srgbClr val="FFFFFF"/>
                </a:solidFill>
                <a:latin typeface="Noto Sans KR"/>
              </a:rPr>
              <a:t>타이핑 →           실행</a:t>
            </a:r>
            <a:r>
              <a:rPr sz="1350">
                <a:solidFill>
                  <a:srgbClr val="FFFFFF"/>
                </a:solidFill>
                <a:latin typeface="Noto Sans KR"/>
              </a:rPr>
              <a:t>|</a:t>
            </a:r>
            <a:r>
              <a:rPr sz="1350">
                <a:solidFill>
                  <a:srgbClr val="FFFFFF"/>
                </a:solidFill>
                <a:latin typeface="Noto Sans KR"/>
              </a:rPr>
              <a:t>대화 → 확인 루프</a:t>
            </a:r>
            <a:r>
              <a:rPr sz="1350">
                <a:solidFill>
                  <a:srgbClr val="FFFFFF"/>
                </a:solidFill>
                <a:latin typeface="Noto Sans KR"/>
              </a:rPr>
              <a:t>로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375" y="1285875"/>
            <a:ext cx="7715250" cy="500062"/>
          </a:xfrm>
          <a:prstGeom prst="roundRect">
            <a:avLst/>
          </a:prstGeom>
          <a:solidFill>
            <a:srgbClr val="FE2A80">
              <a:alpha val="8000"/>
            </a:srgbClr>
          </a:solidFill>
          <a:ln w="12700">
            <a:solidFill>
              <a:srgbClr val="FE2A8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4375" y="2428875"/>
            <a:ext cx="3429000" cy="571500"/>
          </a:xfrm>
          <a:prstGeom prst="round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00625" y="2428875"/>
            <a:ext cx="3429000" cy="571500"/>
          </a:xfrm>
          <a:prstGeom prst="roundRect">
            <a:avLst/>
          </a:prstGeom>
          <a:solidFill>
            <a:srgbClr val="FE2A80">
              <a:alpha val="5000"/>
            </a:srgbClr>
          </a:solidFill>
          <a:ln w="508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3114675"/>
            <a:ext cx="3429000" cy="571500"/>
          </a:xfrm>
          <a:prstGeom prst="round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0625" y="3114675"/>
            <a:ext cx="3429000" cy="571500"/>
          </a:xfrm>
          <a:prstGeom prst="roundRect">
            <a:avLst/>
          </a:prstGeom>
          <a:solidFill>
            <a:srgbClr val="FE2A80">
              <a:alpha val="5000"/>
            </a:srgbClr>
          </a:solidFill>
          <a:ln w="508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4375" y="3800475"/>
            <a:ext cx="3429000" cy="571500"/>
          </a:xfrm>
          <a:prstGeom prst="round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00625" y="3800475"/>
            <a:ext cx="3429000" cy="571500"/>
          </a:xfrm>
          <a:prstGeom prst="roundRect">
            <a:avLst/>
          </a:prstGeom>
          <a:solidFill>
            <a:srgbClr val="FE2A80">
              <a:alpha val="5000"/>
            </a:srgbClr>
          </a:solidFill>
          <a:ln w="508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375" y="4572000"/>
            <a:ext cx="7715250" cy="342900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375" y="642937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Noto Sans KR"/>
              </a:rPr>
              <a:t>프롬프트 잘 쓰는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393031"/>
            <a:ext cx="7429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공식</a:t>
            </a:r>
            <a:r>
              <a:rPr sz="1800" b="1">
                <a:solidFill>
                  <a:srgbClr val="FFFFFF"/>
                </a:solidFill>
                <a:latin typeface="Noto Sans KR"/>
              </a:rPr>
              <a:t>맥락</a:t>
            </a:r>
            <a:r>
              <a:rPr sz="1800" b="1">
                <a:solidFill>
                  <a:srgbClr val="FFFFFF"/>
                </a:solidFill>
                <a:latin typeface="Noto Sans KR"/>
              </a:rPr>
              <a:t>+</a:t>
            </a:r>
            <a:r>
              <a:rPr sz="1800" b="1">
                <a:solidFill>
                  <a:srgbClr val="FFFFFF"/>
                </a:solidFill>
                <a:latin typeface="Noto Sans KR"/>
              </a:rPr>
              <a:t>원하는 동작</a:t>
            </a:r>
            <a:r>
              <a:rPr sz="1800" b="1">
                <a:solidFill>
                  <a:srgbClr val="FFFFFF"/>
                </a:solidFill>
                <a:latin typeface="Noto Sans KR"/>
              </a:rPr>
              <a:t>+</a:t>
            </a:r>
            <a:r>
              <a:rPr sz="1800" b="1">
                <a:solidFill>
                  <a:srgbClr val="FFFFFF"/>
                </a:solidFill>
                <a:latin typeface="Noto Sans KR"/>
              </a:rPr>
              <a:t>결과 형태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071687"/>
            <a:ext cx="342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1A1AA"/>
                </a:solidFill>
                <a:latin typeface="Noto Sans KR"/>
              </a:rPr>
              <a:t>BEFORE (나쁜 예시)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625" y="2071687"/>
            <a:ext cx="342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E2A80"/>
                </a:solidFill>
                <a:latin typeface="Noto Sans KR"/>
              </a:rPr>
              <a:t>AFTER (좋은 예시)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614612"/>
            <a:ext cx="3143250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A1A1AA"/>
                </a:solidFill>
                <a:latin typeface="Noto Sans KR"/>
              </a:rPr>
              <a:t>"버튼 만들어줘"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2543175"/>
            <a:ext cx="3143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"오른쪽 하단에 파란 CTA 버튼, 클릭 시 팀 매칭 시작되게 해줘"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300412"/>
            <a:ext cx="3143250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A1A1AA"/>
                </a:solidFill>
                <a:latin typeface="Noto Sans KR"/>
              </a:rPr>
              <a:t>"예쁘게 만들어줘"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0" y="3228975"/>
            <a:ext cx="31432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"카드 컴포넌트 hover 시 그림자 + scale(1.02) 트랜지션 추가해줘"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986212"/>
            <a:ext cx="3143250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A1A1AA"/>
                </a:solidFill>
                <a:latin typeface="Noto Sans KR"/>
              </a:rPr>
              <a:t>"배포해줘"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3986212"/>
            <a:ext cx="3143250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"vercel로 프로덕션 배포하고 나온 URL 알려줘"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572000"/>
            <a:ext cx="7429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>
                <a:solidFill>
                  <a:srgbClr val="A1A1AA"/>
                </a:solidFill>
                <a:latin typeface="Noto Sans KR"/>
              </a:rPr>
              <a:t>💡 TIP:</a:t>
            </a:r>
            <a:r>
              <a:rPr sz="1125">
                <a:solidFill>
                  <a:srgbClr val="A1A1AA"/>
                </a:solidFill>
                <a:latin typeface="Noto Sans KR"/>
              </a:rPr>
              <a:t>에러가 났을 때 당황             금지 — 에러 메시지를 그대로 붙여넣으세요.</a:t>
            </a:r>
            <a:r>
              <a:rPr sz="1125">
                <a:solidFill>
                  <a:srgbClr val="A1A1AA"/>
                </a:solidFill>
                <a:latin typeface="Noto Sans KR"/>
              </a:rPr>
              <a:t>|</a:t>
            </a:r>
            <a:r>
              <a:rPr sz="1125">
                <a:solidFill>
                  <a:srgbClr val="A1A1AA"/>
                </a:solidFill>
                <a:latin typeface="Noto Sans KR"/>
              </a:rPr>
              <a:t>비개발자 도구든 개발자 도구든 동일하게 적용되는 원칙입니다.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4375" y="1714500"/>
            <a:ext cx="3714750" cy="3429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4375" y="2143125"/>
            <a:ext cx="3714750" cy="3429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4375" y="2571750"/>
            <a:ext cx="3714750" cy="3429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4375" y="3000375"/>
            <a:ext cx="3714750" cy="342900"/>
          </a:xfrm>
          <a:prstGeom prst="rect">
            <a:avLst/>
          </a:prstGeom>
          <a:solidFill>
            <a:srgbClr val="FE2A80">
              <a:alpha val="10000"/>
            </a:srgbClr>
          </a:solidFill>
          <a:ln w="12700">
            <a:solidFill>
              <a:srgbClr val="FE2A80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14875" y="1714500"/>
            <a:ext cx="3714750" cy="1685925"/>
          </a:xfrm>
          <a:prstGeom prst="round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4375" y="3714750"/>
            <a:ext cx="1000125" cy="314325"/>
          </a:xfrm>
          <a:prstGeom prst="round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7400" y="3714750"/>
            <a:ext cx="1000125" cy="314325"/>
          </a:xfrm>
          <a:prstGeom prst="round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0425" y="3714750"/>
            <a:ext cx="1000125" cy="314325"/>
          </a:xfrm>
          <a:prstGeom prst="round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43450" y="3714750"/>
            <a:ext cx="1000125" cy="314325"/>
          </a:xfrm>
          <a:prstGeom prst="round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6475" y="3714750"/>
            <a:ext cx="1000125" cy="314325"/>
          </a:xfrm>
          <a:prstGeom prst="roundRect">
            <a:avLst/>
          </a:prstGeom>
          <a:solidFill>
            <a:srgbClr val="FE2A80">
              <a:alpha val="15000"/>
            </a:srgbClr>
          </a:solidFill>
          <a:ln w="12700">
            <a:solidFill>
              <a:srgbClr val="FE2A8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29500" y="3714750"/>
            <a:ext cx="1000125" cy="314325"/>
          </a:xfrm>
          <a:prstGeom prst="roundRect">
            <a:avLst/>
          </a:prstGeom>
          <a:solidFill>
            <a:srgbClr val="FE2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4375" y="4357687"/>
            <a:ext cx="7715250" cy="428625"/>
          </a:xfrm>
          <a:prstGeom prst="rect">
            <a:avLst/>
          </a:prstGeom>
          <a:solidFill>
            <a:srgbClr val="FFFFFF">
              <a:alpha val="2000"/>
            </a:srgbClr>
          </a:solidFill>
          <a:ln w="508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375" y="607218"/>
            <a:ext cx="7715250" cy="35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KR"/>
              </a:rPr>
              <a:t>DEMO — 비개발자 편: v0로 딸깍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1000125"/>
            <a:ext cx="771525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A1A1AA"/>
                </a:solidFill>
                <a:latin typeface="Noto Sans KR"/>
              </a:rPr>
              <a:t>코드 없이, 브라우저만으로 배포까지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1428750"/>
            <a:ext cx="3571875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E2A80"/>
                </a:solidFill>
                <a:latin typeface="Noto Sans KR"/>
              </a:rPr>
              <a:t>라이브 시연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1800225"/>
            <a:ext cx="3429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01</a:t>
            </a:r>
            <a:r>
              <a:rPr sz="1200">
                <a:solidFill>
                  <a:srgbClr val="FFFFFF"/>
                </a:solidFill>
                <a:latin typeface="Noto Sans KR"/>
              </a:rPr>
              <a:t>v0.app 접속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2228850"/>
            <a:ext cx="3429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02</a:t>
            </a:r>
            <a:r>
              <a:rPr sz="1200">
                <a:solidFill>
                  <a:srgbClr val="FFFFFF"/>
                </a:solidFill>
                <a:latin typeface="Noto Sans KR"/>
              </a:rPr>
              <a:t>프롬프트: "팀 매칭 서비스 메인 페이지 만들어줘"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2657475"/>
            <a:ext cx="3429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03</a:t>
            </a:r>
            <a:r>
              <a:rPr sz="1200">
                <a:solidFill>
                  <a:srgbClr val="FFFFFF"/>
                </a:solidFill>
                <a:latin typeface="Noto Sans KR"/>
              </a:rPr>
              <a:t>결과 확인 → 수정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086100"/>
            <a:ext cx="3429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04</a:t>
            </a:r>
            <a:r>
              <a:rPr sz="1200" b="1">
                <a:solidFill>
                  <a:srgbClr val="FFFFFF"/>
                </a:solidFill>
                <a:latin typeface="Noto Sans KR"/>
              </a:rPr>
              <a:t>Publish 버튼 클릭 → 라이브 URL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875" y="1428750"/>
            <a:ext cx="371475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E2A80"/>
                </a:solidFill>
                <a:latin typeface="Noto Sans KR"/>
              </a:rPr>
              <a:t>비개발자용 다른 도구들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325" y="1857375"/>
            <a:ext cx="3371850" cy="1400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v0 by Vercel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A1A1AA"/>
                </a:solidFill>
                <a:latin typeface="Noto Sans KR"/>
              </a:rPr>
              <a:t>프롬프트로 UI 생성, Publish 버튼으로 딸깍 배포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Lovable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A1A1AA"/>
                </a:solidFill>
                <a:latin typeface="Noto Sans KR"/>
              </a:rPr>
              <a:t>자연어로 앱 생성 → 원클릭 배포, DB/인증 자동 연결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Bolt.new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A1A1AA"/>
                </a:solidFill>
                <a:latin typeface="Noto Sans KR"/>
              </a:rPr>
              <a:t>브라우저 안에서 코드 편집 + 실시간 미리보기 + 배포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Claude.ai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A1A1AA"/>
                </a:solidFill>
                <a:latin typeface="Noto Sans KR"/>
              </a:rPr>
              <a:t>채팅으로 코드 생성 → 복사 붙여넣기로 활용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3500437"/>
            <a:ext cx="1428750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66666"/>
                </a:solidFill>
                <a:latin typeface="Noto Sans KR"/>
              </a:rPr>
              <a:t>PROCESS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1A1AA"/>
                </a:solidFill>
                <a:latin typeface="Noto Sans KR"/>
              </a:rPr>
              <a:t>아이디어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v0 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0425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결과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3450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수정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6475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0" y="3800475"/>
            <a:ext cx="1000125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라이브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486275"/>
            <a:ext cx="742950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Noto Sans KR"/>
              </a:rPr>
              <a:t>강조:</a:t>
            </a:r>
            <a:r>
              <a:rPr sz="1350" b="1">
                <a:solidFill>
                  <a:srgbClr val="FFFFFF"/>
                </a:solidFill>
                <a:latin typeface="Noto Sans KR"/>
              </a:rPr>
              <a:t>터미널을 한 번도 안           열었고, 코드도 한 줄도 안 썼는데 배포까지 끝났습니다.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4375" y="1785937"/>
            <a:ext cx="3429000" cy="500062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4375" y="2464593"/>
            <a:ext cx="3429000" cy="500062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4375" y="3143250"/>
            <a:ext cx="3429000" cy="500062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4375" y="3821906"/>
            <a:ext cx="3429000" cy="500062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00625" y="1785937"/>
            <a:ext cx="3429000" cy="371474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00625" y="2393156"/>
            <a:ext cx="3429000" cy="371474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00625" y="3000375"/>
            <a:ext cx="3429000" cy="371474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00625" y="3607593"/>
            <a:ext cx="3429000" cy="371474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625" y="4214812"/>
            <a:ext cx="3429000" cy="371474"/>
          </a:xfrm>
          <a:prstGeom prst="rect">
            <a:avLst/>
          </a:prstGeom>
          <a:solidFill>
            <a:srgbClr val="FE2A80">
              <a:alpha val="15000"/>
            </a:srgbClr>
          </a:solidFill>
          <a:ln w="12700">
            <a:solidFill>
              <a:srgbClr val="FE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607218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KR"/>
              </a:rPr>
              <a:t>개발자는 더 깊이 갈 수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1000125"/>
            <a:ext cx="7715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A1A1AA"/>
                </a:solidFill>
                <a:latin typeface="Noto Sans KR"/>
              </a:rPr>
              <a:t>비개발자 도구의 한계</a:t>
            </a:r>
            <a:r>
              <a:rPr sz="1500">
                <a:solidFill>
                  <a:srgbClr val="A1A1AA"/>
                </a:solidFill>
                <a:latin typeface="Noto Sans KR"/>
              </a:rPr>
              <a:t>→</a:t>
            </a:r>
            <a:r>
              <a:rPr sz="1500">
                <a:solidFill>
                  <a:srgbClr val="A1A1AA"/>
                </a:solidFill>
                <a:latin typeface="Noto Sans KR"/>
              </a:rPr>
              <a:t>개발자 도구로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1428750"/>
            <a:ext cx="342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1A1AA"/>
                </a:solidFill>
                <a:latin typeface="Noto Sans KR"/>
              </a:rPr>
              <a:t>비개발자 도구로는 어려운 것들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1785937"/>
            <a:ext cx="3143250" cy="5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Noto Sans KR"/>
              </a:rPr>
              <a:t>세밀한 코드 제어와 커스터마이징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464593"/>
            <a:ext cx="3143250" cy="5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Noto Sans KR"/>
              </a:rPr>
              <a:t>외부 API/서비스 연동 (MCP)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143250"/>
            <a:ext cx="3143250" cy="5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Noto Sans KR"/>
              </a:rPr>
              <a:t>기존 프로젝트에 기능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821906"/>
            <a:ext cx="3143250" cy="500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Noto Sans KR"/>
              </a:rPr>
              <a:t>복잡한 비즈니스 로직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625" y="1428750"/>
            <a:ext cx="3429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E2A80"/>
                </a:solidFill>
                <a:latin typeface="Noto Sans KR"/>
              </a:rPr>
              <a:t>개발자 도구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1785937"/>
            <a:ext cx="3143250" cy="37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Google Stitch</a:t>
            </a:r>
            <a:r>
              <a:rPr sz="1200">
                <a:solidFill>
                  <a:srgbClr val="A1A1AA"/>
                </a:solidFill>
                <a:latin typeface="Noto Sans KR"/>
              </a:rPr>
              <a:t>텍스트→UI 디자인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0" y="2393156"/>
            <a:ext cx="3143250" cy="37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stitch-mcp</a:t>
            </a:r>
            <a:r>
              <a:rPr sz="1200">
                <a:solidFill>
                  <a:srgbClr val="A1A1AA"/>
                </a:solidFill>
                <a:latin typeface="Noto Sans KR"/>
              </a:rPr>
              <a:t>MCP 브릿지, 디자인 전달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0" y="3000375"/>
            <a:ext cx="3143250" cy="37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Claude Code</a:t>
            </a:r>
            <a:r>
              <a:rPr sz="1200">
                <a:solidFill>
                  <a:srgbClr val="A1A1AA"/>
                </a:solidFill>
                <a:latin typeface="Noto Sans KR"/>
              </a:rPr>
              <a:t>Next.js 앱 자동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0" y="3607593"/>
            <a:ext cx="3143250" cy="37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Vercel CLI</a:t>
            </a:r>
            <a:r>
              <a:rPr sz="1200">
                <a:solidFill>
                  <a:srgbClr val="A1A1AA"/>
                </a:solidFill>
                <a:latin typeface="Noto Sans KR"/>
              </a:rPr>
              <a:t>vercel 한 줄, 30초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500" y="4214812"/>
            <a:ext cx="3143250" cy="37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Noto Sans KR"/>
              </a:rPr>
              <a:t>라이브 URL</a:t>
            </a:r>
            <a:r>
              <a:rPr sz="1200" b="1">
                <a:solidFill>
                  <a:srgbClr val="FFFFFF"/>
                </a:solidFill>
                <a:latin typeface="Noto Sans KR"/>
              </a:rPr>
              <a:t>전 세계에서 접근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437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1462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1487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15125" y="1428750"/>
            <a:ext cx="1714500" cy="1285875"/>
          </a:xfrm>
          <a:prstGeom prst="rect">
            <a:avLst/>
          </a:prstGeom>
          <a:solidFill>
            <a:srgbClr val="FE2A80">
              <a:alpha val="8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4375" y="3000375"/>
            <a:ext cx="7715250" cy="1071562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75" y="4286250"/>
            <a:ext cx="7715250" cy="428625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4375" y="3000375"/>
            <a:ext cx="7715250" cy="25717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3086100"/>
            <a:ext cx="85725" cy="8572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0125" y="3086100"/>
            <a:ext cx="85725" cy="85725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086100"/>
            <a:ext cx="85725" cy="85725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375" y="3057525"/>
            <a:ext cx="7715250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ourier New"/>
              </a:rPr>
              <a:t>MCP 등록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607218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KR"/>
              </a:rPr>
              <a:t>DEMO — 개발자 편 1: Stitch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000125"/>
            <a:ext cx="7715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A1A1AA"/>
                </a:solidFill>
                <a:latin typeface="Noto Sans KR"/>
              </a:rPr>
              <a:t>Stitch MCP —</a:t>
            </a:r>
            <a:r>
              <a:rPr sz="1500">
                <a:solidFill>
                  <a:srgbClr val="A1A1AA"/>
                </a:solidFill>
                <a:latin typeface="Noto Sans KR"/>
              </a:rPr>
              <a:t>디자인 가져오기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Stitch에서 Vibe Design으로 UI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Claude Code에 MCP 한 줄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디자인 가져오기 요청: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"stitch에서 홈 화면 코드 가져와줘"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Next.js 컴포넌트로 변환: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"TypeScript + Tailwind 컴포넌트로 바꿔줘"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" y="3400425"/>
            <a:ext cx="7286625" cy="64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4E4E7"/>
                </a:solidFill>
                <a:latin typeface="Courier New"/>
              </a:rPr>
              <a:t>&gt;</a:t>
            </a:r>
            <a:r>
              <a:rPr sz="1350">
                <a:solidFill>
                  <a:srgbClr val="E4E4E7"/>
                </a:solidFill>
                <a:latin typeface="Courier New"/>
              </a:rPr>
              <a:t>claude</a:t>
            </a:r>
            <a:r>
              <a:rPr sz="1350">
                <a:solidFill>
                  <a:srgbClr val="E4E4E7"/>
                </a:solidFill>
                <a:latin typeface="Courier New"/>
              </a:rPr>
              <a:t>mcp add stitch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Courier New"/>
              </a:rPr>
              <a:t>--transport http https://stitch.googleapis.com/mcp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>
                <a:solidFill>
                  <a:srgbClr val="E4E4E7"/>
                </a:solidFill>
                <a:latin typeface="Courier New"/>
              </a:rPr>
              <a:t>--header</a:t>
            </a:r>
            <a:r>
              <a:rPr sz="1350">
                <a:solidFill>
                  <a:srgbClr val="E4E4E7"/>
                </a:solidFill>
                <a:latin typeface="Courier New"/>
              </a:rPr>
              <a:t>"X-Goog-Api-Key: YOUR-API-KEY"</a:t>
            </a:r>
            <a:r>
              <a:rPr sz="1350">
                <a:solidFill>
                  <a:srgbClr val="E4E4E7"/>
                </a:solidFill>
                <a:latin typeface="Courier New"/>
              </a:rPr>
              <a:t>-s          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414837"/>
            <a:ext cx="7429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Noto Sans KR"/>
              </a:rPr>
              <a:t>강조:</a:t>
            </a:r>
            <a:r>
              <a:rPr sz="1350" b="1">
                <a:solidFill>
                  <a:srgbClr val="FFFFFF"/>
                </a:solidFill>
                <a:latin typeface="Noto Sans KR"/>
              </a:rPr>
              <a:t>API 키 한           줄 등록으로 끝.</a:t>
            </a:r>
            <a:r>
              <a:rPr sz="1350" b="1">
                <a:solidFill>
                  <a:srgbClr val="FFFFFF"/>
                </a:solidFill>
                <a:latin typeface="Noto Sans KR"/>
              </a:rPr>
              <a:t>DESIGN.md로 디자인 시스템도 자동으로 함께 가져옴.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437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1462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14875" y="1428750"/>
            <a:ext cx="1714500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15125" y="1428750"/>
            <a:ext cx="1714500" cy="1285875"/>
          </a:xfrm>
          <a:prstGeom prst="rect">
            <a:avLst/>
          </a:prstGeom>
          <a:solidFill>
            <a:srgbClr val="FE2A80">
              <a:alpha val="8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4375" y="3000375"/>
            <a:ext cx="7715250" cy="85725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375" y="4143375"/>
            <a:ext cx="7715250" cy="571500"/>
          </a:xfrm>
          <a:prstGeom prst="rect">
            <a:avLst/>
          </a:prstGeom>
          <a:solidFill>
            <a:srgbClr val="FE2A80">
              <a:alpha val="5000"/>
            </a:srgbClr>
          </a:solidFill>
          <a:ln w="12700">
            <a:solidFill>
              <a:srgbClr val="FE2A8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4375" y="3000375"/>
            <a:ext cx="7715250" cy="25717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3086100"/>
            <a:ext cx="85725" cy="8572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0125" y="3086100"/>
            <a:ext cx="85725" cy="85725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086100"/>
            <a:ext cx="85725" cy="85725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375" y="3057525"/>
            <a:ext cx="7715250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66666"/>
                </a:solidFill>
                <a:latin typeface="Courier New"/>
              </a:rPr>
              <a:t>배포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607218"/>
            <a:ext cx="771525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KR"/>
              </a:rPr>
              <a:t>DEMO — 개발자 편 2: Vercel CLI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000125"/>
            <a:ext cx="7715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A1A1AA"/>
                </a:solidFill>
                <a:latin typeface="Noto Sans KR"/>
              </a:rPr>
              <a:t>Claude Code →</a:t>
            </a:r>
            <a:r>
              <a:rPr sz="1500">
                <a:solidFill>
                  <a:srgbClr val="A1A1AA"/>
                </a:solidFill>
                <a:latin typeface="Noto Sans KR"/>
              </a:rPr>
              <a:t>Vercel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로컬 확인: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npm run dev → 브라우저 미리보기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Vercel 배포: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vercel → 프로젝트명 엔터 → 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URL 획득: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https://xxx.vercel.app — 30초 내 라이브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571625"/>
            <a:ext cx="1428750" cy="100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E2A80"/>
                </a:solidFill>
                <a:latin typeface="Noto Sans KR"/>
              </a:rP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청중 공유: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방금 만든 것이 인터넷에 공개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" y="3429000"/>
            <a:ext cx="72866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4E4E7"/>
                </a:solidFill>
                <a:latin typeface="Courier New"/>
              </a:rPr>
              <a:t>$</a:t>
            </a:r>
            <a:r>
              <a:rPr sz="1800">
                <a:solidFill>
                  <a:srgbClr val="E4E4E7"/>
                </a:solidFill>
                <a:latin typeface="Courier New"/>
              </a:rPr>
              <a:t>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250531"/>
            <a:ext cx="7429500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Noto Sans KR"/>
              </a:rPr>
              <a:t>강조:</a:t>
            </a:r>
            <a:r>
              <a:rPr sz="1350" b="1">
                <a:solidFill>
                  <a:srgbClr val="FFFFFF"/>
                </a:solidFill>
                <a:latin typeface="Noto Sans KR"/>
              </a:rPr>
              <a:t>서버 설정           없음, 배포 버튼 없음, 명령어 1개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1A1AA"/>
                </a:solidFill>
                <a:latin typeface="Noto Sans KR"/>
              </a:rPr>
              <a:t>비교: v0의 Publish 버튼과 결과는 동일. 도구만 다름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375" y="1500187"/>
            <a:ext cx="2428875" cy="2428875"/>
          </a:xfrm>
          <a:prstGeom prst="roundRect">
            <a:avLst/>
          </a:prstGeom>
          <a:solidFill>
            <a:srgbClr val="FFFFFF">
              <a:alpha val="3000"/>
            </a:srgbClr>
          </a:solidFill>
          <a:ln w="508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3429000"/>
            <a:ext cx="2143125" cy="31432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57562" y="1500187"/>
            <a:ext cx="2428875" cy="2428875"/>
          </a:xfrm>
          <a:prstGeom prst="roundRect">
            <a:avLst/>
          </a:prstGeom>
          <a:solidFill>
            <a:srgbClr val="FFFFFF">
              <a:alpha val="3000"/>
            </a:srgbClr>
          </a:solidFill>
          <a:ln w="508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437" y="3429000"/>
            <a:ext cx="2143125" cy="314325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00750" y="1500187"/>
            <a:ext cx="2428875" cy="2428875"/>
          </a:xfrm>
          <a:prstGeom prst="roundRect">
            <a:avLst/>
          </a:prstGeom>
          <a:solidFill>
            <a:srgbClr val="FE2A80">
              <a:alpha val="4000"/>
            </a:srgbClr>
          </a:solidFill>
          <a:ln w="508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43625" y="3429000"/>
            <a:ext cx="2143125" cy="314325"/>
          </a:xfrm>
          <a:prstGeom prst="rect">
            <a:avLst/>
          </a:prstGeom>
          <a:solidFill>
            <a:srgbClr val="FE2A8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4375" y="4143375"/>
            <a:ext cx="7715250" cy="571500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607218"/>
            <a:ext cx="7715250" cy="357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KR"/>
              </a:rPr>
              <a:t>비개발자 vs 개발자 — 같은 결과, 다른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1035843"/>
            <a:ext cx="771525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1A1AA"/>
                </a:solidFill>
                <a:latin typeface="Noto Sans KR"/>
              </a:rPr>
              <a:t>스택 레벨별 진입로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714500"/>
            <a:ext cx="2143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비개발자</a:t>
            </a:r>
            <a:r>
              <a:rPr sz="1125">
                <a:solidFill>
                  <a:srgbClr val="A1A1AA"/>
                </a:solidFill>
                <a:latin typeface="Noto Sans KR"/>
              </a:rPr>
              <a:t>(브라우저만)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214562"/>
            <a:ext cx="2143125" cy="107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A1A1AA"/>
                </a:solidFill>
                <a:latin typeface="Noto Sans KR"/>
              </a:rPr>
              <a:t>사용 도구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Noto Sans KR"/>
              </a:rPr>
              <a:t>v0, Lovable, Bolt.new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A1A1AA"/>
                </a:solidFill>
                <a:latin typeface="Noto Sans KR"/>
              </a:rPr>
              <a:t>배포 방식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E4E4E7"/>
                </a:solidFill>
                <a:latin typeface="Noto Sans KR"/>
              </a:rPr>
              <a:t>Publish 딸깍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514725"/>
            <a:ext cx="2143125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D4D4D8"/>
                </a:solidFill>
                <a:latin typeface="Noto Sans KR"/>
              </a:rPr>
              <a:t>✓ 오늘 v0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437" y="1714500"/>
            <a:ext cx="2143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입문 개발자</a:t>
            </a:r>
            <a:r>
              <a:rPr sz="1125">
                <a:solidFill>
                  <a:srgbClr val="A1A1AA"/>
                </a:solidFill>
                <a:latin typeface="Noto Sans KR"/>
              </a:rPr>
              <a:t>(터미널 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437" y="2214562"/>
            <a:ext cx="2143125" cy="107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A1A1AA"/>
                </a:solidFill>
                <a:latin typeface="Noto Sans KR"/>
              </a:rPr>
              <a:t>사용 도구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Noto Sans KR"/>
              </a:rPr>
              <a:t>Claude Code CLI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A1A1AA"/>
                </a:solidFill>
                <a:latin typeface="Noto Sans KR"/>
              </a:rPr>
              <a:t>배포 방식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E4E4E7"/>
                </a:solidFill>
                <a:latin typeface="Noto Sans KR"/>
              </a:rPr>
              <a:t>vercel 명령어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437" y="3514725"/>
            <a:ext cx="2143125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D4D4D8"/>
                </a:solidFill>
                <a:latin typeface="Noto Sans KR"/>
              </a:rPr>
              <a:t>✓ 오늘 Claude Code 시연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3625" y="1714500"/>
            <a:ext cx="21431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E2A80"/>
                </a:solidFill>
                <a:latin typeface="Noto Sans KR"/>
              </a:rPr>
              <a:t>개발자</a:t>
            </a:r>
            <a:r>
              <a:rPr sz="1125">
                <a:solidFill>
                  <a:srgbClr val="FE2A80"/>
                </a:solidFill>
                <a:latin typeface="Noto Sans KR"/>
              </a:rPr>
              <a:t>(더 깊이)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3625" y="2214562"/>
            <a:ext cx="2143125" cy="107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E2A80"/>
                </a:solidFill>
                <a:latin typeface="Noto Sans KR"/>
              </a:rPr>
              <a:t>사용 도구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Claude Code + MCP 확장,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KR"/>
              </a:rPr>
              <a:t>Supabase, GitHub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E2A80"/>
                </a:solidFill>
                <a:latin typeface="Noto Sans KR"/>
              </a:rPr>
              <a:t>배포 방식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Noto Sans KR"/>
              </a:rPr>
              <a:t>자동 배포 (CI/CD)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3625" y="3514725"/>
            <a:ext cx="2143125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Noto Sans KR"/>
              </a:rPr>
              <a:t>★ 오늘 Stitch MCP 시연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321968"/>
            <a:ext cx="742950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핵심:</a:t>
            </a:r>
            <a:r>
              <a:rPr sz="1500" b="1">
                <a:solidFill>
                  <a:srgbClr val="FFFFFF"/>
                </a:solidFill>
                <a:latin typeface="Noto Sans KR"/>
              </a:rPr>
              <a:t>도구만 다를 뿐,</a:t>
            </a:r>
            <a:r>
              <a:rPr sz="1500" b="1">
                <a:solidFill>
                  <a:srgbClr val="FFFFFF"/>
                </a:solidFill>
                <a:latin typeface="Noto Sans KR"/>
              </a:rPr>
              <a:t>"의도를 말하고 → AI가 만들고 → 내가 확인한다"</a:t>
            </a:r>
            <a:r>
              <a:rPr sz="1500" b="1">
                <a:solidFill>
                  <a:srgbClr val="FFFFFF"/>
                </a:solidFill>
                <a:latin typeface="Noto Sans KR"/>
              </a:rPr>
              <a:t>는 동일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375" y="1500187"/>
            <a:ext cx="3714750" cy="2357437"/>
          </a:xfrm>
          <a:prstGeom prst="roundRect">
            <a:avLst/>
          </a:prstGeom>
          <a:solidFill>
            <a:srgbClr val="FFFFFF">
              <a:alpha val="2000"/>
            </a:srgbClr>
          </a:solidFill>
          <a:ln w="381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687" y="2000250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687" y="2414587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687" y="2828925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687" y="3243262"/>
            <a:ext cx="3286125" cy="400050"/>
          </a:xfrm>
          <a:prstGeom prst="rect">
            <a:avLst/>
          </a:prstGeom>
          <a:solidFill>
            <a:srgbClr val="FE2A80">
              <a:alpha val="8000"/>
            </a:srgbClr>
          </a:solidFill>
          <a:ln w="12700">
            <a:solidFill>
              <a:srgbClr val="FE2A8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14875" y="1500187"/>
            <a:ext cx="3714750" cy="2357437"/>
          </a:xfrm>
          <a:prstGeom prst="roundRect">
            <a:avLst/>
          </a:prstGeom>
          <a:solidFill>
            <a:srgbClr val="FFFFFF">
              <a:alpha val="2000"/>
            </a:srgbClr>
          </a:solidFill>
          <a:ln w="38100">
            <a:solidFill>
              <a:srgbClr val="FE2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29187" y="2000250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29187" y="2414587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29187" y="2828925"/>
            <a:ext cx="3286125" cy="3429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29187" y="3243262"/>
            <a:ext cx="3286125" cy="400050"/>
          </a:xfrm>
          <a:prstGeom prst="rect">
            <a:avLst/>
          </a:prstGeom>
          <a:solidFill>
            <a:srgbClr val="FE2A80">
              <a:alpha val="15000"/>
            </a:srgbClr>
          </a:solidFill>
          <a:ln w="12700">
            <a:solidFill>
              <a:srgbClr val="FE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4375" y="4143375"/>
            <a:ext cx="7715250" cy="571500"/>
          </a:xfrm>
          <a:prstGeom prst="round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607218"/>
            <a:ext cx="7715250" cy="392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Noto Sans KR"/>
              </a:rPr>
              <a:t>오늘부터 시작하는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1035843"/>
            <a:ext cx="7715250" cy="250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E4E4E7"/>
                </a:solidFill>
                <a:latin typeface="Noto Sans KR"/>
              </a:rPr>
              <a:t>코드는 몰라도 됩니다.</a:t>
            </a:r>
            <a:r>
              <a:rPr sz="1650" b="1">
                <a:solidFill>
                  <a:srgbClr val="E4E4E7"/>
                </a:solidFill>
                <a:latin typeface="Noto Sans KR"/>
              </a:rPr>
              <a:t>지금 바로 해커톤에서 써보세요.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687" y="1678781"/>
            <a:ext cx="3286125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비개발자 시작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5843" y="2085975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01</a:t>
            </a:r>
            <a:r>
              <a:rPr sz="1200">
                <a:solidFill>
                  <a:srgbClr val="E4E4E7"/>
                </a:solidFill>
                <a:latin typeface="Noto Sans KR"/>
              </a:rPr>
              <a:t>v0.app 또는 Lovable.dev 접속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843" y="2500312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02</a:t>
            </a:r>
            <a:r>
              <a:rPr sz="1200">
                <a:solidFill>
                  <a:srgbClr val="E4E4E7"/>
                </a:solidFill>
                <a:latin typeface="Noto Sans KR"/>
              </a:rPr>
              <a:t>만들고 싶었던 것, 말로 설명해보기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843" y="2914650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03</a:t>
            </a:r>
            <a:r>
              <a:rPr sz="1200">
                <a:solidFill>
                  <a:srgbClr val="E4E4E7"/>
                </a:solidFill>
                <a:latin typeface="Noto Sans KR"/>
              </a:rPr>
              <a:t>결과 보고, 고쳐달라고 다시 요청하기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843" y="3357562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Noto Sans KR"/>
              </a:rPr>
              <a:t>04</a:t>
            </a:r>
            <a:r>
              <a:rPr sz="1275" b="1">
                <a:solidFill>
                  <a:srgbClr val="FFFFFF"/>
                </a:solidFill>
                <a:latin typeface="Noto Sans KR"/>
              </a:rPr>
              <a:t>마음에 들면 Publish 버튼 클릭</a:t>
            </a:r>
            <a:r>
              <a:rPr sz="1275" b="1">
                <a:solidFill>
                  <a:srgbClr val="FFFFFF"/>
                </a:solidFill>
                <a:latin typeface="Noto Sans KR"/>
              </a:rPr>
              <a:t>(끝!)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9187" y="1678781"/>
            <a:ext cx="3286125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KR"/>
              </a:rPr>
              <a:t>개발자 시작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6343" y="2085975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01</a:t>
            </a:r>
            <a:r>
              <a:rPr sz="1200">
                <a:solidFill>
                  <a:srgbClr val="E4E4E7"/>
                </a:solidFill>
                <a:latin typeface="Noto Sans KR"/>
              </a:rPr>
              <a:t>Claude Code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6343" y="2500312"/>
            <a:ext cx="3071812" cy="20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02</a:t>
            </a:r>
            <a:r>
              <a:rPr sz="1200">
                <a:solidFill>
                  <a:srgbClr val="E4E4E7"/>
                </a:solidFill>
                <a:latin typeface="Noto Sans KR"/>
              </a:rPr>
              <a:t>프로젝트 폴더에서</a:t>
            </a:r>
            <a:r>
              <a:rPr sz="1200">
                <a:solidFill>
                  <a:srgbClr val="E4E4E7"/>
                </a:solidFill>
                <a:latin typeface="Noto Sans KR"/>
              </a:rPr>
              <a:t>claude</a:t>
            </a:r>
            <a:r>
              <a:rPr sz="1200">
                <a:solidFill>
                  <a:srgbClr val="E4E4E7"/>
                </a:solidFill>
                <a:latin typeface="Noto Sans KR"/>
              </a:rPr>
              <a:t>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6343" y="2914650"/>
            <a:ext cx="3071812" cy="1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4E4E7"/>
                </a:solidFill>
                <a:latin typeface="Noto Sans KR"/>
              </a:rPr>
              <a:t>03</a:t>
            </a:r>
            <a:r>
              <a:rPr sz="1200">
                <a:solidFill>
                  <a:srgbClr val="E4E4E7"/>
                </a:solidFill>
                <a:latin typeface="Noto Sans KR"/>
              </a:rPr>
              <a:t>만들고 싶은 것 설명 → 코드 생성 →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6343" y="3357562"/>
            <a:ext cx="3071812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Noto Sans KR"/>
              </a:rPr>
              <a:t>04</a:t>
            </a:r>
            <a:r>
              <a:rPr sz="1275" b="1">
                <a:solidFill>
                  <a:srgbClr val="FFFFFF"/>
                </a:solidFill>
                <a:latin typeface="Noto Sans KR"/>
              </a:rPr>
              <a:t>vercel</a:t>
            </a:r>
            <a:r>
              <a:rPr sz="1275" b="1">
                <a:solidFill>
                  <a:srgbClr val="FFFFFF"/>
                </a:solidFill>
                <a:latin typeface="Noto Sans KR"/>
              </a:rPr>
              <a:t>명령어로 라이브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357687"/>
            <a:ext cx="857250" cy="14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1A1AA"/>
                </a:solidFill>
                <a:latin typeface="Noto Sans KR"/>
              </a:rPr>
              <a:t>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4500" y="4321968"/>
            <a:ext cx="6572250" cy="21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claude.ai</a:t>
            </a:r>
            <a:r>
              <a:rPr sz="1500" b="1">
                <a:solidFill>
                  <a:srgbClr val="FFFFFF"/>
                </a:solidFill>
                <a:latin typeface="Courier New"/>
              </a:rPr>
              <a:t>|</a:t>
            </a:r>
            <a:r>
              <a:rPr sz="1500" b="1">
                <a:solidFill>
                  <a:srgbClr val="FFFFFF"/>
                </a:solidFill>
                <a:latin typeface="Courier New"/>
              </a:rPr>
              <a:t>lovable.dev</a:t>
            </a:r>
            <a:r>
              <a:rPr sz="1500" b="1">
                <a:solidFill>
                  <a:srgbClr val="FFFFFF"/>
                </a:solidFill>
                <a:latin typeface="Courier New"/>
              </a:rPr>
              <a:t>|</a:t>
            </a:r>
            <a:r>
              <a:rPr sz="1500" b="1">
                <a:solidFill>
                  <a:srgbClr val="FFFFFF"/>
                </a:solidFill>
                <a:latin typeface="Courier New"/>
              </a:rPr>
              <a:t>v0.app</a:t>
            </a:r>
            <a:r>
              <a:rPr sz="1500" b="1">
                <a:solidFill>
                  <a:srgbClr val="FFFFFF"/>
                </a:solidFill>
                <a:latin typeface="Courier New"/>
              </a:rPr>
              <a:t>|</a:t>
            </a:r>
            <a:r>
              <a:rPr sz="1500" b="1">
                <a:solidFill>
                  <a:srgbClr val="FFFFFF"/>
                </a:solidFill>
                <a:latin typeface="Courier New"/>
              </a:rPr>
              <a:t>bolt.new</a:t>
            </a:r>
            <a:r>
              <a:rPr sz="1500" b="1">
                <a:solidFill>
                  <a:srgbClr val="FFFFFF"/>
                </a:solidFill>
                <a:latin typeface="Courier New"/>
              </a:rPr>
              <a:t>|</a:t>
            </a:r>
            <a:r>
              <a:rPr sz="1500" b="1">
                <a:solidFill>
                  <a:srgbClr val="FFFFFF"/>
                </a:solidFill>
                <a:latin typeface="Courier New"/>
              </a:rPr>
              <a:t>stitch.withgoogle.com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